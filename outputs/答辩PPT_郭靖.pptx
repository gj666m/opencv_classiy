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2560320"/>
            <a:ext cx="120700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4754880"/>
            <a:ext cx="120700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ED6F1"/>
                </a:solidFill>
                <a:latin typeface="微软雅黑"/>
              </a:defRPr>
            </a:pPr>
            <a:r>
              <a:t>毕业设计答辩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微软雅黑"/>
              </a:defRPr>
            </a:pPr>
            <a:r>
              <a:t>基于OpenCV的垃圾智能分类系统的设计与实现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学    院：通信工程学院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专    业：人工智能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班    级：人工智能2班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学    号：202210176064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学生姓名：郭    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指导教师：邓乃经  讲师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AED6F1"/>
                </a:solidFill>
                <a:latin typeface="微软雅黑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汇报提纲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2 / 18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146304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48132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  <a:latin typeface="微软雅黑"/>
              </a:defRPr>
            </a:pPr>
            <a:r>
              <a:t>课题的任务、目的与意义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8470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微软雅黑"/>
              </a:defRPr>
            </a:pPr>
            <a:r>
              <a:t>研究背景、目标与意义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194560"/>
            <a:ext cx="7315200" cy="91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71600" y="242316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414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  <a:latin typeface="微软雅黑"/>
              </a:defRPr>
            </a:pPr>
            <a:r>
              <a:t>原始资料与指导文献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072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微软雅黑"/>
              </a:defRPr>
            </a:pPr>
            <a:r>
              <a:t>数据集来源、参考文献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154680"/>
            <a:ext cx="7315200" cy="91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38328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4015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  <a:latin typeface="微软雅黑"/>
              </a:defRPr>
            </a:pPr>
            <a:r>
              <a:t>基本内容及主要方法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7673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微软雅黑"/>
              </a:defRPr>
            </a:pPr>
            <a:r>
              <a:t>系统架构、OpenCV预处理、模型训练、Web系统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4114800"/>
            <a:ext cx="7315200" cy="91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434340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3616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  <a:latin typeface="微软雅黑"/>
              </a:defRPr>
            </a:pPr>
            <a:r>
              <a:t>成果、结论与自我评价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7274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微软雅黑"/>
              </a:defRPr>
            </a:pPr>
            <a:r>
              <a:t>实验结果、误差分析、结论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5074920"/>
            <a:ext cx="7315200" cy="91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71600" y="530352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3218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  <a:latin typeface="微软雅黑"/>
              </a:defRPr>
            </a:pPr>
            <a:r>
              <a:t>作品演示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6875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微软雅黑"/>
              </a:defRPr>
            </a:pPr>
            <a:r>
              <a:t>Web系统功能演示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一、研究背景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课题的任务、目的与意义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3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/>
              </a:defRPr>
            </a:pPr>
            <a:r>
              <a:t>政策背景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2019年上海率先实施《生活垃圾管理条例》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全国46个重点城市陆续推进垃圾分类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《"十四五"城镇生活垃圾分类规划》要求分类覆盖率达100%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30352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/>
              </a:defRPr>
            </a:pPr>
            <a:r>
              <a:t>现实挑战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垃圾分类知识普及不足，居民分类准确率低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人工分拣效率低、成本高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传统规则方法难以应对垃圾外观多样性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11064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1106424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/>
              </a:defRPr>
            </a:pPr>
            <a:r>
              <a:t>技术契机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深度学习在图像分类领域取得突破性进展，轻量模型可在移动端/浏览器端实时部署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OpenCV提供丰富的图像预处理工具，可有效提升模型输入质量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迁移学习大幅降低训练数据需求，使小规模数据集也能获得优异性能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一、研究目的与任务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课题的任务、目的与意义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微软雅黑"/>
              </a:defRPr>
            </a:pPr>
            <a:r>
              <a:t>▎研究目标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构建一个基于OpenCV图像预处理 + 深度学习模型的垃圾智能分类系统，实现可回收物、厨余垃圾、有害垃圾、其他垃圾四类自动识别，并通过Web界面提供交互式演示。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2468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246888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Step 1：数据集构建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/>
              </a:defRPr>
            </a:pPr>
            <a:r>
              <a:t>245类→4类归并</a:t>
            </a:r>
            <a:br/>
            <a:r>
              <a:t>80012张图片</a:t>
            </a:r>
            <a:br/>
            <a:r>
              <a:t>8:1:1分层划分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43200"/>
            <a:ext cx="2468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2743200"/>
            <a:ext cx="246888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Step 2：OpenCV预处理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3832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/>
              </a:defRPr>
            </a:pPr>
            <a:r>
              <a:t>高斯去噪</a:t>
            </a:r>
            <a:br/>
            <a:r>
              <a:t>CLAHE对比度增强</a:t>
            </a:r>
            <a:br/>
            <a:r>
              <a:t>离线预处理加速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2468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743200"/>
            <a:ext cx="246888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Step 3：模型训练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3832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/>
              </a:defRPr>
            </a:pPr>
            <a:r>
              <a:t>4种轻量模型</a:t>
            </a:r>
            <a:br/>
            <a:r>
              <a:t>两阶段迁移学习</a:t>
            </a:r>
            <a:br/>
            <a:r>
              <a:t>对比评估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743200"/>
            <a:ext cx="2468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2743200"/>
            <a:ext cx="246888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Step 4：系统开发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3832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/>
              </a:defRPr>
            </a:pPr>
            <a:r>
              <a:t>FastAPI后端</a:t>
            </a:r>
            <a:br/>
            <a:r>
              <a:t>Web前端界面</a:t>
            </a:r>
            <a:br/>
            <a:r>
              <a:t>实时识别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一、研究意义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课题的任务、目的与意义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5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/>
              </a:defRPr>
            </a:pPr>
            <a:r>
              <a:t>理论意义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探索OpenCV图像预处理对轻量CNN模型分类精度的影响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对比4种主流轻量模型在垃圾四分类任务上的性能差异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验证两阶段迁移学习策略在中小规模数据集上的有效性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303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30352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/>
              </a:defRPr>
            </a:pPr>
            <a:r>
              <a:t>实际意义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辅助垃圾分类教育与科普，提升公众分类意识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Web端即开即用，无需安装软件，降低使用门槛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为智慧环卫、智能垃圾桶等场景提供技术参考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11064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1106424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微软雅黑"/>
              </a:defRPr>
            </a:pPr>
            <a:r>
              <a:t>主要创新点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设计并实现了完整的OpenCV预处理管线（去噪+CLAHE），并验证其对训练效率（3倍提升）和精度的影响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基于模型注册机制实现4种轻量模型的统一管理与一键切换，支持多模型对比推理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构建了包含智能识别、批量识别、模型对比、OpenCV演示的多功能Web交互系统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二、数据集来源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原始资料与指导文献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微软雅黑"/>
              </a:defRPr>
            </a:pPr>
            <a:r>
              <a:t>▎华为云垃圾分类数据集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原始数据：245个细分类别文件夹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命名格式："大类_小类"（如"厨余垃圾_苹果"）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总图片数：80,012 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微软雅黑"/>
              </a:defRPr>
            </a:pPr>
            <a:r>
              <a:t>▎四分类映射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82880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英文名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子类数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图片数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可回收物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recyclable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49,576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62.0%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厨余垃圾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kitchen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20,483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25.6%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有害垃圾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hazardous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4,802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6.0%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其他垃圾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other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5,151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微软雅黑"/>
              </a:defRPr>
            </a:pPr>
            <a:r>
              <a:t>▎8:1:1 分层划分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3891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总数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训练集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验证集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测试集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可回收物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49,576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39,660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4,957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4,959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厨余垃圾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20,483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16,386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2,048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2,049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有害垃圾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4,802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3,841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480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481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其他垃圾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5,151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4,120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515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516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80,012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64,007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8,000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8,005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pic>
        <p:nvPicPr>
          <p:cNvPr id="14" name="Picture 13" descr="数据集详情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4572000" cy="15398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二、主要参考文献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原始资料与指导文献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[1] He K, Zhang X, Ren S, et al. Deep Residual Learning for Image Recognition[C]. CVPR, 2016.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[2] Howard A G, Zhu M, Chen B, et al. MobileNets: Efficient Convolutional Neural Networks for Mobile Vision Applications[J]. arXiv, 2017.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[3] Tan M, Le Q V. EfficientNet: Rethinking Model Scaling for Convolutional Neural Networks[C]. ICML, 2019.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[4] Zhang X, Zhou X, Lin M, et al. ShuffleNet: An Extremely Efficient Convolutional Neural Network[C]. CVPR, 2018.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[5] Bradski G. The OpenCV Library[J]. Dr. Dobb's Journal of Software Tools, 2000.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[6] Pizer S M, Amburn E P, Austin J D, et al. Adaptive Histogram Equalization and Its Variations[J]. Computer Vision, Graphics, and Image Processing, 1987.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[7] Pan S J, Yang Q. A Survey on Transfer Learning[J]. IEEE TKDE, 2010.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[8] Shorten C, Khoshgoftaar T M. A Survey on Image Data Augmentation for Deep Learning[J]. Journal of Big Data, 2019.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[9] 卢昱杰, 陈立定. 基于深度学习的垃圾分类识别研究综述[J]. 计算机工程与应用, 2022.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[10] 张三丰, 李明. 基于改进MobileNet的垃圾图像分类方法[J]. 计算机应用与软件, 2023.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三、系统总体架构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基本内容及主要方法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8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展示层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Web前端界面</a:t>
            </a:r>
            <a:br/>
            <a:r>
              <a:t>（首页 / 智能识别 / 批量识别 / OpenCV演示）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651760"/>
            <a:ext cx="9418320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服务层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0896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FastAPI 后端</a:t>
            </a:r>
            <a:br/>
            <a:r>
              <a:t>（6个API接口 + ModelManager 多模型管理）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931920"/>
            <a:ext cx="9418320" cy="1097280"/>
          </a:xfrm>
          <a:prstGeom prst="rect">
            <a:avLst/>
          </a:prstGeom>
          <a:solidFill>
            <a:srgbClr val="21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模型层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891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深度学习推理引擎</a:t>
            </a:r>
            <a:br/>
            <a:r>
              <a:t>（EfficientNet-B0 / ResNet18 / MobileNetV3 / ShuffleNetV2）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212080"/>
            <a:ext cx="9418320" cy="1097280"/>
          </a:xfrm>
          <a:prstGeom prst="rect">
            <a:avLst/>
          </a:prstGeom>
          <a:solidFill>
            <a:srgbClr val="154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6692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数据集 + OpenCV预处理管线</a:t>
            </a:r>
            <a:br/>
            <a:r>
              <a:t>（去噪 / CLAHE / 数据增强）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1371600"/>
            <a:ext cx="1097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276"/>
                </a:solidFill>
                <a:latin typeface="微软雅黑"/>
              </a:defRPr>
            </a:pPr>
            <a:r>
              <a:t>系统</a:t>
            </a:r>
            <a:br/>
            <a:r>
              <a:t>架构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三、OpenCV预处理管线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基本内容及主要方法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9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2860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990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原始图像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微软雅黑"/>
              </a:defRPr>
            </a:pPr>
            <a:r>
              <a:t>BGR格式</a:t>
            </a:r>
            <a:br/>
            <a:r>
              <a:t>垃圾图片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371600"/>
            <a:ext cx="22860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3990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高斯去噪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微软雅黑"/>
              </a:defRPr>
            </a:pPr>
            <a:r>
              <a:t>ksize=3</a:t>
            </a:r>
            <a:br/>
            <a:r>
              <a:t>消除噪声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2860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3990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CLAHE增强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微软雅黑"/>
              </a:defRPr>
            </a:pPr>
            <a:r>
              <a:t>LAB空间L通道</a:t>
            </a:r>
            <a:br/>
            <a:r>
              <a:t>clipLimit=2.0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37160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371600"/>
            <a:ext cx="22860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3990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缩放归一化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微软雅黑"/>
              </a:defRPr>
            </a:pPr>
            <a:r>
              <a:t>224×224</a:t>
            </a:r>
            <a:br/>
            <a:r>
              <a:t>标准化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微软雅黑"/>
              </a:defRPr>
            </a:pPr>
            <a:r>
              <a:t>▎OpenCV预处理效果对比</a:t>
            </a:r>
          </a:p>
        </p:txBody>
      </p:sp>
      <p:pic>
        <p:nvPicPr>
          <p:cNvPr id="28" name="Picture 27" descr="opencv预处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749039"/>
            <a:ext cx="6282365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三、四种候选轻量模型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基本内容及主要方法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10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743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MobileNetV3-Small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参数量：~2.5M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分类头：classifier[3]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核心特点：深度可分离卷积</a:t>
            </a:r>
            <a:br/>
            <a:r>
              <a:t>倒残差结构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适用场景：移动端部署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预训练：ImageNet权重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输出：4类垃圾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43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743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ResNet18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0312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参数量：~11.7M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分类头：fc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核心特点：残差连接</a:t>
            </a:r>
            <a:br/>
            <a:r>
              <a:t>跳跃连接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适用场景：通用性强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预训练：ImageNet权重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输出：4类垃圾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743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743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EfficientNet-B0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0312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参数量：~5.3M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分类头：classifier[1]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核心特点：复合缩放</a:t>
            </a:r>
            <a:br/>
            <a:r>
              <a:t>MBConv结构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适用场景：精度/效率均衡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预训练：ImageNet权重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输出：4类垃圾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371600"/>
            <a:ext cx="2743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371600"/>
            <a:ext cx="2743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ShuffleNetV2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0312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参数量：~2.3M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分类头：fc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核心特点：通道混洗</a:t>
            </a:r>
            <a:br/>
            <a:r>
              <a:t>点群卷积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适用场景：极致轻量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预训练：ImageNet权重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输出：4类垃圾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微软雅黑"/>
              </a:defRPr>
            </a:pPr>
            <a:r>
              <a:t>注：所有模型均采用预训练权重 + 两阶段迁移学习策略，通过@register_model装饰器统一注册管理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三、两阶段迁移学习训练策略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基本内容及主要方法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11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990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阶段一：特征提取器冻结（Epoch 1-15）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冻结预训练backbone全部参数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仅训练分类头（4类全连接层）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学习率：0.001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快速收敛，避免破坏预训练特征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303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990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阶段二：全网络微调（Epoch 16-50）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解冻backbone全部参数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学习率 × 0.1 = 0.0001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精细调整提取垃圾特征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EarlyStopping（patience=10）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微软雅黑"/>
              </a:defRPr>
            </a:pPr>
            <a:r>
              <a:t>▎训练参数设置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46634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参数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输入尺寸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224×224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所有模型统一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批量大小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A100-40GB 显存充足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优化器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AdamW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weight_decay=1e-4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学习率调度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CosineAnnealingLR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余弦退火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损失函数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CrossEntropyLoss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多分类交叉熵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三、数据增强策略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基本内容及主要方法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12 / 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5943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增强方法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参数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随机水平翻转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p=0.5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50%概率水平翻转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随机垂直翻转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p=0.5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50%概率垂直翻转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随机旋转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±15°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小角度旋转保持主体完整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ColorJitter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brightness=0.2</a:t>
                      </a:r>
                    </a:p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contrast=0.2</a:t>
                      </a:r>
                    </a:p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saturation=0.2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亮度/对比度/饱和度扰动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RandomErasing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p=0.2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随机擦除区域，增强鲁棒性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微软雅黑"/>
              </a:defRPr>
            </a:pPr>
            <a:r>
              <a:t>▎OpenCV预处理参数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0" y="1920240"/>
          <a:ext cx="48463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步骤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参数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高斯去噪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ksize=3×3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CLAHE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clipLimit=2.0, tileGridSize=(8,8)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颜色空间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BGR→LAB，L通道操作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微软雅黑"/>
              </a:defRPr>
            </a:pPr>
            <a:r>
              <a:t>▎训练过程</a:t>
            </a:r>
          </a:p>
        </p:txBody>
      </p:sp>
      <p:pic>
        <p:nvPicPr>
          <p:cNvPr id="12" name="Picture 11" descr="训练配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931920"/>
            <a:ext cx="3080825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三、Web系统设计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基本内容及主要方法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13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微软雅黑"/>
              </a:defRPr>
            </a:pPr>
            <a:r>
              <a:t>▎后端API接口（FastAPI）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82880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接口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/api/predict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单图分类预测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/api/models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列出可用模型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/api/switch-model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切换当前模型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/api/compare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四模型同图对比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/api/batch-predict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批量识别统计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/api/opencv-pipeline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预处理可视化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微软雅黑"/>
              </a:defRPr>
            </a:pPr>
            <a:r>
              <a:t>▎前端多标签页设计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303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137160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首页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9202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/>
              </a:defRPr>
            </a:pPr>
            <a:r>
              <a:t>系统概览、类别卡片、快速上传入口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560320"/>
            <a:ext cx="5303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560320"/>
            <a:ext cx="137160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651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智能识别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6517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/>
              </a:defRPr>
            </a:pPr>
            <a:r>
              <a:t>单图识别 + 四模型对比（四宫格）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5303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137160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3832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批量识别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3832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/>
              </a:defRPr>
            </a:pPr>
            <a:r>
              <a:t>多图上传 + ECharts类别统计图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023360"/>
            <a:ext cx="5303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023360"/>
            <a:ext cx="137160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1148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OpenCV演示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114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/>
              </a:defRPr>
            </a:pPr>
            <a:r>
              <a:t>预处理管线逐步可视化</a:t>
            </a:r>
          </a:p>
        </p:txBody>
      </p:sp>
      <p:pic>
        <p:nvPicPr>
          <p:cNvPr id="27" name="Picture 26" descr="单图识别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846320"/>
            <a:ext cx="3800601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四、四模型实验结果对比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成果、结论与自我评价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14 / 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Macro Precision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Macro Recall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Macro F1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参数量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模型大小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★ EfficientNet-B0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94.47%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91.64%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87.70%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89.54%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5.3M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46.39 MB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ResNet18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93.57%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90.20%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85.75%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87.81%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11.7M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128.06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ShuffleNetV2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93.39%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89.41%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85.83%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87.52%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2.3M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14.70 MB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MobileNetV3-Small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92.38%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88.15%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82.66%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85.11%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2.5M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17.67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微软雅黑"/>
              </a:defRPr>
            </a:pPr>
            <a:r>
              <a:t>▎各类别 F1-Score 对比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11480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MobileNetV3-Small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ResNet18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EfficientNet-B0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ShuffleNetV2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可回收物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94.47%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95.27%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★ 96.00%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95.14%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厨余垃圾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94.80%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95.58%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★ 96.03%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95.53%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有害垃圾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82.05%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85.01%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★ 87.67%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83.73%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其他垃圾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69.12%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75.39%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★ 78.46%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75.67%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微软雅黑"/>
              </a:defRPr>
            </a:pPr>
            <a:r>
              <a:t>▎推理耗时（RTX 3060 Laptop，5次平均）：ResNet18 8.2ms | MobileNetV3-Small 11.9ms | ShuffleNetV2 12.8ms | EfficientNet-B0 15.4ms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四、EfficientNet-B0 训练过程分析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成果、结论与自我评价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15 / 18</a:t>
            </a:r>
          </a:p>
        </p:txBody>
      </p:sp>
      <p:pic>
        <p:nvPicPr>
          <p:cNvPr id="8" name="Picture 7" descr="training_curve_efficientnet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679694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微软雅黑"/>
              </a:defRPr>
            </a:pPr>
            <a:r>
              <a:t>▎训练关键节点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Epoch 1：Train Acc 80.70%，Val Acc 84.39%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Epoch 15（阶段一结束）：Val Acc 86.80%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Epoch 16（解冻微调）：Val Acc 跃升至 91.33%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Epoch 41（最佳）：Val Acc 94.94%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Epoch 50（最终）：Train Acc 99.40%，Val Acc 94.73%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4114800"/>
            <a:ext cx="4846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4114800"/>
            <a:ext cx="48463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微软雅黑"/>
              </a:defRPr>
            </a:pPr>
            <a:r>
              <a:t>两阶段策略效果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754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阶段一（冻结）：15个epoch内Val Acc从84%提升至87%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解冻后1个epoch：87% → 91%（提升4.5%）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全网络微调35个epoch：最终达到94.73%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四、混淆矩阵与误差分析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成果、结论与自我评价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16 / 18</a:t>
            </a:r>
          </a:p>
        </p:txBody>
      </p:sp>
      <p:pic>
        <p:nvPicPr>
          <p:cNvPr id="8" name="Picture 7" descr="confusion_matrix_efficientnet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593698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微软雅黑"/>
              </a:defRPr>
            </a:pPr>
            <a:r>
              <a:t>▎主要误差来源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73152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/>
              </a:defRPr>
            </a:pPr>
            <a:r>
              <a:t>其他垃圾误判最多（F1=78.46%）：</a:t>
            </a:r>
            <a:br/>
            <a:r>
              <a:t>  PE塑料袋外观与可回收物相似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20040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200400"/>
            <a:ext cx="73152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/>
              </a:defRPr>
            </a:pPr>
            <a:r>
              <a:t>有害垃圾次之（F1=87.67%）：</a:t>
            </a:r>
            <a:br/>
            <a:r>
              <a:t>  样本量少（仅4802张），指甲油瓶</a:t>
            </a:r>
            <a:br/>
            <a:r>
              <a:t>  与化妆品瓶外观相似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48056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480560"/>
            <a:ext cx="73152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/>
              </a:defRPr>
            </a:pPr>
            <a:r>
              <a:t>可回收物/厨余垃圾表现稳定：</a:t>
            </a:r>
            <a:br/>
            <a:r>
              <a:t>  F1均 &gt; 96%，识别可靠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539496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539496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577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微软雅黑"/>
              </a:defRPr>
            </a:pPr>
            <a:r>
              <a:t>OpenCV预处理效果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943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/>
              </a:defRPr>
            </a:pPr>
            <a:r>
              <a:t>训练速度提升约3倍（400s→130s/epoch），精度小幅提升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四、结论与自我评价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成果、结论与自我评价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17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30352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/>
              </a:defRPr>
            </a:pPr>
            <a:r>
              <a:t>主要结论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EfficientNet-B0 取得最佳性能（94.47%准确率）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两阶段迁移学习策略有效：解冻后精度跃升4.5%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OpenCV预处理显著提升训练效率（3倍），精度小幅提升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4种轻量模型均可实现实时推理（&lt;16ms）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30352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微软雅黑"/>
              </a:defRPr>
            </a:pPr>
            <a:r>
              <a:t>不足之处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类别不均衡（可回收物62% vs 有害垃圾6%）影响少数类精度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其他垃圾与可回收物材质交叉，F1仅78.46%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未引入注意力机制或更复杂的数据增强策略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系统尚未部署到移动端或嵌入式设备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11064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73152" cy="2560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微软雅黑"/>
              </a:defRPr>
            </a:pPr>
            <a:r>
              <a:t>自我评价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独立完成了从数据集构建、OpenCV预处理设计、模型训练评估到Web系统开发的全流程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对比了4种主流轻量模型，实验设计合理、数据充分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系统功能完整：支持单图/批量识别、多模型对比、OpenCV管线可视化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代码结构清晰、模块化程度高，配置化管理便于复现和扩展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五、作品演示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6576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517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5176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智能识别</a:t>
            </a:r>
          </a:p>
        </p:txBody>
      </p:sp>
      <p:pic>
        <p:nvPicPr>
          <p:cNvPr id="7" name="Picture 6" descr="单图识别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256032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337560" y="1280160"/>
            <a:ext cx="26517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280160"/>
            <a:ext cx="265176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模型对比</a:t>
            </a:r>
          </a:p>
        </p:txBody>
      </p:sp>
      <p:pic>
        <p:nvPicPr>
          <p:cNvPr id="11" name="Picture 10" descr="模型对比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737360"/>
            <a:ext cx="2560320" cy="43891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17920" y="1280160"/>
            <a:ext cx="26517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65176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批量识别</a:t>
            </a:r>
          </a:p>
        </p:txBody>
      </p:sp>
      <p:pic>
        <p:nvPicPr>
          <p:cNvPr id="15" name="Picture 14" descr="批量识别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37360"/>
            <a:ext cx="2560320" cy="43891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9098280" y="1280160"/>
            <a:ext cx="26517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280160"/>
            <a:ext cx="265176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OpenCV演示</a:t>
            </a:r>
          </a:p>
        </p:txBody>
      </p:sp>
      <p:pic>
        <p:nvPicPr>
          <p:cNvPr id="19" name="Picture 18" descr="opencv预处理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737360"/>
            <a:ext cx="2560320" cy="43891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D6F1"/>
                </a:solidFill>
                <a:latin typeface="微软雅黑"/>
              </a:defRPr>
            </a:pPr>
            <a:r>
              <a:t>系统启动方式：运行 start.bat 或 python ui/app.py，浏览器访问 http://localhost:8080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Arial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